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7"/>
  </p:notesMasterIdLst>
  <p:handoutMasterIdLst>
    <p:handoutMasterId r:id="rId28"/>
  </p:handoutMasterIdLst>
  <p:sldIdLst>
    <p:sldId id="314" r:id="rId3"/>
    <p:sldId id="261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7" r:id="rId15"/>
    <p:sldId id="348" r:id="rId16"/>
    <p:sldId id="332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>
        <p:scale>
          <a:sx n="66" d="100"/>
          <a:sy n="66" d="100"/>
        </p:scale>
        <p:origin x="1118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22-09-2026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22-09-2026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22-09-2026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22-09-2026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22-09-2026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22-09-2026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22-09-2026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22-09-2026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22-09-2026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 wrap="square" lIns="18288" tIns="18288" rIns="18288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dirty="0">
                <a:solidFill>
                  <a:srgbClr val="232323"/>
                </a:solidFill>
                <a:latin typeface="Times New Roman"/>
              </a:rPr>
              <a:t>The Smart Public Transport Mobile App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47803" y="3326664"/>
            <a:ext cx="3135284" cy="1022846"/>
          </a:xfrm>
        </p:spPr>
        <p:txBody>
          <a:bodyPr wrap="square" lIns="18288" tIns="18288" rIns="18288" bIns="18288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sz="1900" b="0" dirty="0">
                <a:solidFill>
                  <a:srgbClr val="232323"/>
                </a:solidFill>
                <a:latin typeface="Times New Roman"/>
              </a:rPr>
              <a:t>Sai Snehith – 2520090149
Yagna Sai Reddy – 2520080055
Harshith Reddy – 252009011</a:t>
            </a:r>
            <a:r>
              <a:rPr lang="en-IN" sz="1900" b="0" dirty="0">
                <a:solidFill>
                  <a:srgbClr val="232323"/>
                </a:solidFill>
                <a:latin typeface="Times New Roman"/>
              </a:rPr>
              <a:t>4</a:t>
            </a:r>
            <a:endParaRPr lang="en-US" sz="96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68680" y="1206401"/>
            <a:ext cx="9893531" cy="1430713"/>
          </a:xfrm>
          <a:prstGeom prst="rect">
            <a:avLst/>
          </a:prstGeom>
        </p:spPr>
        <p:txBody>
          <a:bodyPr vert="horz" wrap="square" lIns="18288" tIns="18288" rIns="18288" bIns="18288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700" b="0" dirty="0">
                <a:solidFill>
                  <a:srgbClr val="232323"/>
                </a:solidFill>
                <a:latin typeface="Times New Roman"/>
              </a:rPr>
              <a:t>Under the Guidance
of
Gayatri Mantri
Faculty Guide
Department of CSIT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1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60" y="2578608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BF1F2B"/>
                </a:solidFill>
                <a:latin typeface="Arial"/>
              </a:rPr>
              <a:t>DBMS PROJECT  •  PROJECT REVIEW –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5777" y="6034405"/>
            <a:ext cx="9326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dirty="0">
                <a:solidFill>
                  <a:srgbClr val="5F5F5F"/>
                </a:solidFill>
                <a:latin typeface="Arial"/>
              </a:rPr>
              <a:t>Department of CSIT  |  Academic Year 2026–2027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635508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dirty="0">
                <a:solidFill>
                  <a:srgbClr val="5F5F5F"/>
                </a:solidFill>
                <a:latin typeface="Arial"/>
              </a:rPr>
              <a:t>PROJECT REVIEW – II  |  CSIT</a:t>
            </a:r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2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554480"/>
            <a:ext cx="4828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1554480"/>
            <a:ext cx="54864" cy="160020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19072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PROJECT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5171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A database-driven mobile application that centralizes routes, stops, buses, schedules, fares and user trip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6712" y="1554480"/>
            <a:ext cx="4828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96712" y="1554480"/>
            <a:ext cx="54864" cy="160020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61304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719072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PROBLEM ADDRESSED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2194560"/>
            <a:ext cx="45171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Passengers may depend on static schedules, scattered information and manual enquiry while planning journeys.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364992"/>
            <a:ext cx="4828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8" y="3364992"/>
            <a:ext cx="54864" cy="160020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3547872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529584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05072"/>
            <a:ext cx="45171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A normalized MySQL database supports structured transport data, search queries, user records and transaction-safe operations.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96712" y="3364992"/>
            <a:ext cx="4828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96712" y="3364992"/>
            <a:ext cx="54864" cy="160020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61304" y="3547872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529584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CURRENT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1304" y="4005072"/>
            <a:ext cx="45171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Database design and core SQL operations are prepared; application integration and quantitative testing remain in progress.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230368"/>
            <a:ext cx="9774936" cy="56692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32180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F1F2B"/>
                </a:solidFill>
                <a:latin typeface="Times New Roman"/>
              </a:rPr>
              <a:t>KEYWORDS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3035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Times New Roman"/>
              </a:rPr>
              <a:t>DBMS  •  MySQL  •  Public Transport  •  Route Search  •  Mobile Application</a:t>
            </a:r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3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81912"/>
            <a:ext cx="10195560" cy="4160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150" b="0">
                <a:solidFill>
                  <a:srgbClr val="232323"/>
                </a:solidFill>
                <a:latin typeface="Times New Roman"/>
              </a:rPr>
              <a:t>• Transport information can be fragmented across schedules, notice boards, operator channels and separate applications.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150" b="0">
                <a:solidFill>
                  <a:srgbClr val="232323"/>
                </a:solidFill>
                <a:latin typeface="Times New Roman"/>
              </a:rPr>
              <a:t>• Passengers may not have one interface for searching routes, stops, bus details, schedules and fares.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150" b="0">
                <a:solidFill>
                  <a:srgbClr val="232323"/>
                </a:solidFill>
                <a:latin typeface="Times New Roman"/>
              </a:rPr>
              <a:t>• Static or manually maintained records can create duplication, inconsistency and maintenance difficulty.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150" b="0">
                <a:solidFill>
                  <a:srgbClr val="232323"/>
                </a:solidFill>
                <a:latin typeface="Times New Roman"/>
              </a:rPr>
              <a:t>• Multiple related entities must remain connected through reliable keys and constraints.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150" b="0">
                <a:solidFill>
                  <a:srgbClr val="232323"/>
                </a:solidFill>
                <a:latin typeface="Times New Roman"/>
              </a:rPr>
              <a:t>• Proposed definition: build a centralized DBMS-backed mobile application for structured public-transport information retrieval.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394960"/>
            <a:ext cx="10195560" cy="47548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547725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BF1F2B"/>
                </a:solidFill>
                <a:latin typeface="Arial"/>
              </a:rPr>
              <a:t>CORE ISSUE  →  fragmented data + manual lookup + weak data consistency</a:t>
            </a:r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Motivation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4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NEED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554480"/>
            <a:ext cx="48280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1554480"/>
            <a:ext cx="54864" cy="1664208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19072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PASSENGER CONVENIENCE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517136" cy="886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Quick access to route, stop, schedule and fare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6712" y="1554480"/>
            <a:ext cx="48280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96712" y="1554480"/>
            <a:ext cx="54864" cy="1664208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61304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719072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DATA 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2194560"/>
            <a:ext cx="4517136" cy="886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One relational database reduces duplicate and conflicting transport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493008"/>
            <a:ext cx="48280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8" y="3493008"/>
            <a:ext cx="54864" cy="1664208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3675887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657600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SCALABLE FOUNDATION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4517136" cy="886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A normalized schema can support more buses, routes, users and transactions.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96712" y="3493008"/>
            <a:ext cx="48280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96712" y="3493008"/>
            <a:ext cx="54864" cy="1664208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61304" y="3675887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657600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ACADEMIC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1304" y="4133087"/>
            <a:ext cx="4517136" cy="886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Combines ER modeling, normalization, SQL, constraints and transactions with a practical use case.</a:t>
            </a: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5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GOALS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554480"/>
            <a:ext cx="48280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1554480"/>
            <a:ext cx="54864" cy="1627632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19072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OBJECTIVE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517136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Design a normalized MySQL database for users, buses, routes, stops, schedules and fares.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6712" y="1554480"/>
            <a:ext cx="48280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96712" y="1554480"/>
            <a:ext cx="54864" cy="1627632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61304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719072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OBJECTIVE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2194560"/>
            <a:ext cx="4517136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Develop reliable CRUD operations and SQL queries for transport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493008"/>
            <a:ext cx="48280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8" y="3493008"/>
            <a:ext cx="54864" cy="1627632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3675887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657600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OBJECTIVE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4517136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Provide route and stop search through a mobile-friendly application interface.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96712" y="3493008"/>
            <a:ext cx="48280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96712" y="3493008"/>
            <a:ext cx="54864" cy="1627632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61304" y="3675887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657600"/>
            <a:ext cx="399592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OBJECTIVE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1304" y="4133087"/>
            <a:ext cx="4517136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Create a foundation for future live tracking, notifications and digital ticketing.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6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RESEARCH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1417320"/>
          <a:ext cx="10753344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78992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Year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Method / Technique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Dataset / Scope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Major Finding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Chowdhury &amp; Giacaman (2015)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Smartphone trip planning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Multi-destination PT trip scenarios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Smartphones can support richer public-transport trip planning.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Focuses on trip planning; DBMS design is not the main focus.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Molina et al. (2017)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Integrated mobile payment + planner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Integrated public-transport service use case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Combining transport functions can improve the mobile user journey.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Broader app integration; relational schema/constraints are not central.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Verma &amp; Chakraborty (2020/21)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Literature review of smartphone PT planning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Published studies / review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Highlights the role of smartphones and transport data in journey planning.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0" b="0">
                          <a:solidFill>
                            <a:srgbClr val="232323"/>
                          </a:solidFill>
                          <a:latin typeface="Times New Roman"/>
                        </a:rPr>
                        <a:t>Review-based; no single implemented DBMS benchmark.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5833872"/>
            <a:ext cx="10561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dirty="0">
                <a:solidFill>
                  <a:srgbClr val="BF1F2B"/>
                </a:solidFill>
                <a:latin typeface="Arial"/>
              </a:rPr>
              <a:t>Survey takeaway  →  mobile transport services are established; this project emphasizes the relational DBMS foundation behind them.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Research Gap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7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554480"/>
            <a:ext cx="3154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1554480"/>
            <a:ext cx="54864" cy="192024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1907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GAP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2843784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Many transport applications emphasize maps or tracking, while the underlying relational database structure is less visible.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554480"/>
            <a:ext cx="3154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69080" y="1554480"/>
            <a:ext cx="54864" cy="192024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33672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719072"/>
            <a:ext cx="23225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GAP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2194560"/>
            <a:ext cx="2843784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Transport data involves multiple related entities that require normalization, keys and integrity constraints.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1554480"/>
            <a:ext cx="3136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88352" y="1554480"/>
            <a:ext cx="54864" cy="192024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52944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1719072"/>
            <a:ext cx="2304287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GAP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194560"/>
            <a:ext cx="2825496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Some realtime solutions prioritize cloud updates; this academic prototype emphasizes SQL, transactions and DBMS fundamentals.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822191"/>
            <a:ext cx="9774936" cy="1261872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00507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F1F2B"/>
                </a:solidFill>
                <a:latin typeface="Times New Roman"/>
              </a:rPr>
              <a:t>RESEARCH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3931920"/>
            <a:ext cx="79095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50" b="0">
                <a:solidFill>
                  <a:srgbClr val="232323"/>
                </a:solidFill>
                <a:latin typeface="Times New Roman"/>
              </a:rPr>
              <a:t>The missing focus is a clearly structured relational data layer that connects users, routes, stops, buses, schedules and fares while supporting reliable SQL operations. The proposed work brings DBMS principles directly into the public-transport application workflow.</a:t>
            </a:r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Proposed Methodology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8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20240"/>
            <a:ext cx="1874519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1920240"/>
            <a:ext cx="54864" cy="210312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210312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84832"/>
            <a:ext cx="104241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60320"/>
            <a:ext cx="1563623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Source, destination, stop, route, bus or user details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24327" y="2926080"/>
            <a:ext cx="301753" cy="0"/>
          </a:xfrm>
          <a:prstGeom prst="line">
            <a:avLst/>
          </a:prstGeom>
          <a:ln w="25400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26080" y="1920240"/>
            <a:ext cx="1874519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26080" y="1920240"/>
            <a:ext cx="54864" cy="210312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090672" y="210312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084832"/>
            <a:ext cx="104241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2560320"/>
            <a:ext cx="1563623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Required fields, IDs, dates and relationships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00600" y="2926080"/>
            <a:ext cx="301752" cy="0"/>
          </a:xfrm>
          <a:prstGeom prst="line">
            <a:avLst/>
          </a:prstGeom>
          <a:ln w="25400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02352" y="1920240"/>
            <a:ext cx="1874519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02352" y="1920240"/>
            <a:ext cx="54864" cy="210312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266944" y="210312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9864" y="2084832"/>
            <a:ext cx="10424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SQL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2560320"/>
            <a:ext cx="1563623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Joins, CRUD, filters, indexes and transactions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76872" y="2926080"/>
            <a:ext cx="301752" cy="0"/>
          </a:xfrm>
          <a:prstGeom prst="line">
            <a:avLst/>
          </a:prstGeom>
          <a:ln w="25400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78624" y="1920240"/>
            <a:ext cx="1874519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78624" y="1920240"/>
            <a:ext cx="54864" cy="210312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443216" y="210312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6136" y="2084832"/>
            <a:ext cx="104241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6" y="2560320"/>
            <a:ext cx="1563623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Routes, stops, schedules, fares and user-facing results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53144" y="2926080"/>
            <a:ext cx="301752" cy="0"/>
          </a:xfrm>
          <a:prstGeom prst="line">
            <a:avLst/>
          </a:prstGeom>
          <a:ln w="25400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454896" y="1920240"/>
            <a:ext cx="1874519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54896" y="1920240"/>
            <a:ext cx="54864" cy="210312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19488" y="210312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22408" y="2084832"/>
            <a:ext cx="104241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2560320"/>
            <a:ext cx="1563623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Correctness, integrity, response time and usability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434840"/>
            <a:ext cx="10104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F1F2B"/>
                </a:solidFill>
                <a:latin typeface="Times New Roman"/>
              </a:rPr>
              <a:t>Input → Preprocessing / Validation → Database Processing → Output → Performance Evaluation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5047488"/>
            <a:ext cx="10104120" cy="56692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4128" y="5120640"/>
            <a:ext cx="97840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0">
                <a:solidFill>
                  <a:srgbClr val="232323"/>
                </a:solidFill>
                <a:latin typeface="Times New Roman"/>
              </a:rPr>
              <a:t>DBMS emphasis: primary keys • foreign keys • normalization • indexes • constraints • joins • transactions</a:t>
            </a:r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9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600200"/>
            <a:ext cx="10058400" cy="82296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1792224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F1F2B"/>
                </a:solidFill>
                <a:latin typeface="Arial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783080"/>
            <a:ext cx="74980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Times New Roman"/>
              </a:rPr>
              <a:t>Passengers / administrators provide route, stop and account inputs.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697480"/>
            <a:ext cx="290779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880360"/>
            <a:ext cx="2542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BF1F2B"/>
                </a:solidFill>
                <a:latin typeface="Arial"/>
              </a:rPr>
              <a:t>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337560"/>
            <a:ext cx="24963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Times New Roman"/>
              </a:rPr>
              <a:t>Input + search + result 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8" y="2697480"/>
            <a:ext cx="290779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2880360"/>
            <a:ext cx="25420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BF1F2B"/>
                </a:solidFill>
                <a:latin typeface="Arial"/>
              </a:rPr>
              <a:t>APPLICATION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337560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Times New Roman"/>
              </a:rPr>
              <a:t>Validation + SQL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03336" y="2697480"/>
            <a:ext cx="2523744" cy="128016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88036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BF1F2B"/>
                </a:solidFill>
                <a:latin typeface="Arial"/>
              </a:rPr>
              <a:t>MYSQL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310128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232323"/>
                </a:solidFill>
                <a:latin typeface="Times New Roman"/>
              </a:rPr>
              <a:t>Relational schema + constraints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76472" y="3337560"/>
            <a:ext cx="859536" cy="0"/>
          </a:xfrm>
          <a:prstGeom prst="line">
            <a:avLst/>
          </a:prstGeom>
          <a:ln w="28575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43800" y="3337560"/>
            <a:ext cx="859536" cy="0"/>
          </a:xfrm>
          <a:prstGeom prst="line">
            <a:avLst/>
          </a:prstGeom>
          <a:ln w="28575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8680" y="4526280"/>
            <a:ext cx="14356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4709160"/>
            <a:ext cx="128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Arial"/>
              </a:rPr>
              <a:t>USERS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591056" y="3977639"/>
            <a:ext cx="8074152" cy="548641"/>
          </a:xfrm>
          <a:prstGeom prst="line">
            <a:avLst/>
          </a:prstGeom>
          <a:ln w="18415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542032" y="4526280"/>
            <a:ext cx="14356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15184" y="4709160"/>
            <a:ext cx="128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Arial"/>
              </a:rPr>
              <a:t>ROUTES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264408" y="3977639"/>
            <a:ext cx="6400800" cy="548641"/>
          </a:xfrm>
          <a:prstGeom prst="line">
            <a:avLst/>
          </a:prstGeom>
          <a:ln w="18415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15384" y="4526280"/>
            <a:ext cx="14356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88536" y="4709160"/>
            <a:ext cx="128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Arial"/>
              </a:rPr>
              <a:t>STOPS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937760" y="3977639"/>
            <a:ext cx="4727448" cy="548641"/>
          </a:xfrm>
          <a:prstGeom prst="line">
            <a:avLst/>
          </a:prstGeom>
          <a:ln w="18415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888736" y="4526280"/>
            <a:ext cx="14356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61888" y="4709160"/>
            <a:ext cx="128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Arial"/>
              </a:rPr>
              <a:t>BUSES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6611112" y="3977639"/>
            <a:ext cx="3054096" cy="548641"/>
          </a:xfrm>
          <a:prstGeom prst="line">
            <a:avLst/>
          </a:prstGeom>
          <a:ln w="18415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562088" y="4526280"/>
            <a:ext cx="14356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35240" y="4709160"/>
            <a:ext cx="128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Arial"/>
              </a:rPr>
              <a:t>SCHEDULES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284463" y="3977639"/>
            <a:ext cx="1380745" cy="548641"/>
          </a:xfrm>
          <a:prstGeom prst="line">
            <a:avLst/>
          </a:prstGeom>
          <a:ln w="18415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235440" y="4526280"/>
            <a:ext cx="14356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08592" y="4709160"/>
            <a:ext cx="12893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32323"/>
                </a:solidFill>
                <a:latin typeface="Arial"/>
              </a:rPr>
              <a:t>FARES / TICKETS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65208" y="3977639"/>
            <a:ext cx="292608" cy="548641"/>
          </a:xfrm>
          <a:prstGeom prst="line">
            <a:avLst/>
          </a:prstGeom>
          <a:ln w="18415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68680" y="5486400"/>
            <a:ext cx="10058400" cy="347472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7552" y="5522976"/>
            <a:ext cx="9829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BF1F2B"/>
                </a:solidFill>
                <a:latin typeface="Arial"/>
              </a:rPr>
              <a:t>Primary keys + foreign keys + normalization + indexes + constraints keep transport data consistent and queryable.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Technologies Used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10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536192"/>
            <a:ext cx="2103120" cy="63093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1536192"/>
            <a:ext cx="54864" cy="630936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700784"/>
            <a:ext cx="177393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76272"/>
            <a:ext cx="1792223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MySQL 8.x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16002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BF1F2B"/>
                </a:solidFill>
                <a:latin typeface="Arial"/>
              </a:rPr>
              <a:t>MySQL 8.x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60020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232323"/>
                </a:solidFill>
                <a:latin typeface="Times New Roman"/>
              </a:rPr>
              <a:t>Relational DBMS for structured transport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" y="2217836"/>
            <a:ext cx="2103120" cy="63093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2267712"/>
            <a:ext cx="54864" cy="630936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432304"/>
            <a:ext cx="177393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QUERY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07791"/>
            <a:ext cx="1792223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33172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BF1F2B"/>
                </a:solidFill>
                <a:latin typeface="Arial"/>
              </a:rPr>
              <a:t>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3317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232323"/>
                </a:solidFill>
                <a:latin typeface="Times New Roman"/>
              </a:rPr>
              <a:t>DDL, DML, joins, filtering and transactions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2999232"/>
            <a:ext cx="2103120" cy="63093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8" y="2999232"/>
            <a:ext cx="54864" cy="630936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163824"/>
            <a:ext cx="177393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BF1F2B"/>
                </a:solidFill>
                <a:latin typeface="Times New Roman"/>
              </a:rPr>
              <a:t>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39312"/>
            <a:ext cx="1792223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Mobile-friendly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30632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BF1F2B"/>
                </a:solidFill>
                <a:latin typeface="Arial"/>
              </a:rPr>
              <a:t>Mobile-friendly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06324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232323"/>
                </a:solidFill>
                <a:latin typeface="Times New Roman"/>
              </a:rPr>
              <a:t>User-facing transport search and result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3730752"/>
            <a:ext cx="2103120" cy="63093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9808" y="3730752"/>
            <a:ext cx="54864" cy="630936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895344"/>
            <a:ext cx="177393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70832"/>
            <a:ext cx="1792223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MySQL Workbench • VS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37947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BF1F2B"/>
                </a:solidFill>
                <a:latin typeface="Arial"/>
              </a:rPr>
              <a:t>MySQL Workbench • VS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79476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232323"/>
                </a:solidFill>
                <a:latin typeface="Times New Roman"/>
              </a:rPr>
              <a:t>Schema design, SQL execution and application editing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" y="4462272"/>
            <a:ext cx="2103120" cy="63093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9808" y="4462272"/>
            <a:ext cx="54864" cy="630936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626864"/>
            <a:ext cx="177393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CONCEPTS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452628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BF1F2B"/>
                </a:solidFill>
                <a:latin typeface="Arial"/>
              </a:rPr>
              <a:t>ER Model • 3NF • Keys • Constraints • Indexes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52628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232323"/>
                </a:solidFill>
                <a:latin typeface="Times New Roman"/>
              </a:rPr>
              <a:t>DBMS principles used in the design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" y="5193792"/>
            <a:ext cx="2103120" cy="63093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49808" y="5193792"/>
            <a:ext cx="54864" cy="630936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358383"/>
            <a:ext cx="177393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OPERATING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833872"/>
            <a:ext cx="1792223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dirty="0">
                <a:solidFill>
                  <a:srgbClr val="232323"/>
                </a:solidFill>
                <a:latin typeface="Times New Roman"/>
              </a:rPr>
              <a:t>Windows / Linux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9232" y="52578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BF1F2B"/>
                </a:solidFill>
                <a:latin typeface="Arial"/>
              </a:rPr>
              <a:t>Windows / Linux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525780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232323"/>
                </a:solidFill>
                <a:latin typeface="Times New Roman"/>
              </a:rPr>
              <a:t>Development and testing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Dataset / Input Details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11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DATA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527048"/>
            <a:ext cx="3063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1527048"/>
            <a:ext cx="54864" cy="1536192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170992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691639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DATASET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67128"/>
            <a:ext cx="2752344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Project-created sample transport records used for schema and SQL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50208" y="1527048"/>
            <a:ext cx="3063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50208" y="1527048"/>
            <a:ext cx="54864" cy="1536192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14800" y="170992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691639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CORE ENTITIES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167128"/>
            <a:ext cx="2752344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User, Bus, Route, Stop, Schedule, Fare and Ticket.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8" y="1527048"/>
            <a:ext cx="3374136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50608" y="1527048"/>
            <a:ext cx="54864" cy="1536192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0" y="170992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1691639"/>
            <a:ext cx="2542031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INPUT 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167128"/>
            <a:ext cx="306324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Source, destination, route ID, stop ID, date/time and user details.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31012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F1F2B"/>
                </a:solidFill>
                <a:latin typeface="Times New Roman"/>
              </a:rPr>
              <a:t>SAMPLE DATASET VIEW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04672" y="3675887"/>
          <a:ext cx="99212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Route ID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Route Name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Source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Destination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Fare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Schedule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R101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City Connector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Central Station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Tech Park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₹25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08:30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R102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Airport Link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Rail Terminal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Airport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₹40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09:15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R103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Campus Shuttle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Main Gate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University Block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₹15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10:00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R104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Market Loop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Bus Stand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Market Area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₹20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>
                          <a:solidFill>
                            <a:srgbClr val="232323"/>
                          </a:solidFill>
                          <a:latin typeface="Times New Roman"/>
                        </a:rPr>
                        <a:t>10:45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68680" y="552297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BF1F2B"/>
                </a:solidFill>
                <a:latin typeface="Arial"/>
              </a:rPr>
              <a:t>Target / output examples  →  matching route, stop details, departure time, fare and user ticket record</a:t>
            </a:r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Implementation – Module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12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54480"/>
            <a:ext cx="29260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554480"/>
            <a:ext cx="54864" cy="352044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19072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2615184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Create the database, relational tables and integrity rules required by the application.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572768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F1F2B"/>
                </a:solidFill>
                <a:latin typeface="Times New Roman"/>
              </a:rPr>
              <a:t>MODULE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1938528"/>
            <a:ext cx="2880360" cy="129844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31920" y="1938528"/>
            <a:ext cx="54864" cy="1298448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96511" y="212140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103120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1" y="2578608"/>
            <a:ext cx="2569464" cy="5212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ER entities, attributes and relationships.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13448" y="1938528"/>
            <a:ext cx="3182112" cy="129844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13448" y="1938528"/>
            <a:ext cx="54864" cy="1298448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78040" y="212140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103120"/>
            <a:ext cx="2350007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578608"/>
            <a:ext cx="2871216" cy="5212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DDL + PK/FK + NOT NULL + UNIQUE + CHECK constraints.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66160"/>
            <a:ext cx="6309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F1F2B"/>
                </a:solidFill>
                <a:latin typeface="Times New Roman"/>
              </a:rPr>
              <a:t>SAMPLE 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3931920"/>
            <a:ext cx="6309360" cy="1481328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0" y="4069080"/>
            <a:ext cx="5943600" cy="13065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0" dirty="0">
                <a:solidFill>
                  <a:srgbClr val="232323"/>
                </a:solidFill>
                <a:latin typeface="Courier New"/>
              </a:rPr>
              <a:t>CREATE TABLE routes (
  </a:t>
            </a:r>
            <a:r>
              <a:rPr sz="1650" b="0" dirty="0" err="1">
                <a:solidFill>
                  <a:srgbClr val="232323"/>
                </a:solidFill>
                <a:latin typeface="Courier New"/>
              </a:rPr>
              <a:t>route_id</a:t>
            </a:r>
            <a:r>
              <a:rPr sz="1650" b="0" dirty="0">
                <a:solidFill>
                  <a:srgbClr val="232323"/>
                </a:solidFill>
                <a:latin typeface="Courier New"/>
              </a:rPr>
              <a:t> INT PRIMARY KEY,
  </a:t>
            </a:r>
            <a:r>
              <a:rPr sz="1650" b="0" dirty="0" err="1">
                <a:solidFill>
                  <a:srgbClr val="232323"/>
                </a:solidFill>
                <a:latin typeface="Courier New"/>
              </a:rPr>
              <a:t>route_name</a:t>
            </a:r>
            <a:r>
              <a:rPr sz="1650" b="0" dirty="0">
                <a:solidFill>
                  <a:srgbClr val="232323"/>
                </a:solidFill>
                <a:latin typeface="Courier New"/>
              </a:rPr>
              <a:t> VARCHAR(100) NOT NULL,
  source VARCHAR(100),
  destination VARCHAR(100)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53212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BF1F2B"/>
                </a:solidFill>
                <a:latin typeface="Arial"/>
              </a:rPr>
              <a:t>Output  →  structured relational schema ready for insert / query / update operations.</a:t>
            </a:r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Implementation – Module 2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13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554480"/>
            <a:ext cx="2926080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1554480"/>
            <a:ext cx="54864" cy="3529584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19072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2615184" cy="2752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Search routes by source and destination and return matching schedules.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554480"/>
            <a:ext cx="2880360" cy="1261872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31920" y="1554480"/>
            <a:ext cx="54864" cy="1261872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096511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1719072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1" y="2194560"/>
            <a:ext cx="2569464" cy="4846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Source, destination and optional travel date/time.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13448" y="1554480"/>
            <a:ext cx="3182112" cy="1261872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13448" y="1554480"/>
            <a:ext cx="54864" cy="1261872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7804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719072"/>
            <a:ext cx="2350007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194560"/>
            <a:ext cx="2871216" cy="4846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JOIN routes + schedules; filter on indexed fields.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127248"/>
            <a:ext cx="6309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F1F2B"/>
                </a:solidFill>
                <a:latin typeface="Times New Roman"/>
              </a:rPr>
              <a:t>EXAMPLE QUERY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3493008"/>
            <a:ext cx="6309360" cy="1700784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0" y="3639312"/>
            <a:ext cx="5943600" cy="14081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0">
                <a:solidFill>
                  <a:srgbClr val="232323"/>
                </a:solidFill>
                <a:latin typeface="Courier New"/>
              </a:rPr>
              <a:t>SELECT r.route_name, s.departure_time
FROM routes r
JOIN schedules s ON r.route_id = s.route_id
WHERE r.source = ? AND r.destination = ?;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5413248"/>
            <a:ext cx="6309360" cy="50292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9080" y="5477256"/>
            <a:ext cx="60167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80" b="1">
                <a:solidFill>
                  <a:srgbClr val="BF1F2B"/>
                </a:solidFill>
                <a:latin typeface="Arial"/>
              </a:rPr>
              <a:t>Expected output  →  matching route names + available departure times.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Implementation – Module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14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54480"/>
            <a:ext cx="28803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554480"/>
            <a:ext cx="54864" cy="361188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19072"/>
            <a:ext cx="204825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2569464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Register users and maintain ticket records using transaction-safe multi-step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103120"/>
            <a:ext cx="11247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23944" y="2276856"/>
            <a:ext cx="10149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BF1F2B"/>
                </a:solidFill>
                <a:latin typeface="Arial"/>
              </a:rPr>
              <a:t>BEGIN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93792" y="2468880"/>
            <a:ext cx="292608" cy="0"/>
          </a:xfrm>
          <a:prstGeom prst="line">
            <a:avLst/>
          </a:prstGeom>
          <a:ln w="22860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2103120"/>
            <a:ext cx="11247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41264" y="2276856"/>
            <a:ext cx="10149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BF1F2B"/>
                </a:solidFill>
                <a:latin typeface="Arial"/>
              </a:rPr>
              <a:t>VALIDATE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11112" y="2468880"/>
            <a:ext cx="338328" cy="0"/>
          </a:xfrm>
          <a:prstGeom prst="line">
            <a:avLst/>
          </a:prstGeom>
          <a:ln w="22860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49440" y="2103120"/>
            <a:ext cx="11247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04303" y="2276856"/>
            <a:ext cx="10149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BF1F2B"/>
                </a:solidFill>
                <a:latin typeface="Arial"/>
              </a:rPr>
              <a:t>INSERT TICKET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74152" y="2468880"/>
            <a:ext cx="411480" cy="0"/>
          </a:xfrm>
          <a:prstGeom prst="line">
            <a:avLst/>
          </a:prstGeom>
          <a:ln w="22860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85632" y="2103120"/>
            <a:ext cx="11247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0496" y="2276856"/>
            <a:ext cx="10149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BF1F2B"/>
                </a:solidFill>
                <a:latin typeface="Arial"/>
              </a:rPr>
              <a:t>UPDATE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10344" y="2468880"/>
            <a:ext cx="320040" cy="0"/>
          </a:xfrm>
          <a:prstGeom prst="line">
            <a:avLst/>
          </a:prstGeom>
          <a:ln w="22860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30384" y="2103120"/>
            <a:ext cx="112471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85248" y="2276856"/>
            <a:ext cx="10149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BF1F2B"/>
                </a:solidFill>
                <a:latin typeface="Arial"/>
              </a:rPr>
              <a:t>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3218688"/>
            <a:ext cx="6995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F1F2B"/>
                </a:solidFill>
                <a:latin typeface="Times New Roman"/>
              </a:rPr>
              <a:t>FAILURE 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3584448"/>
            <a:ext cx="2999232" cy="73152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24528" y="3767328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232323"/>
                </a:solidFill>
                <a:latin typeface="Times New Roman"/>
              </a:rPr>
              <a:t>Validation / DB error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8312" y="3950208"/>
            <a:ext cx="658367" cy="0"/>
          </a:xfrm>
          <a:prstGeom prst="line">
            <a:avLst/>
          </a:prstGeom>
          <a:ln w="22860">
            <a:solidFill>
              <a:srgbClr val="BF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726679" y="3584448"/>
            <a:ext cx="2999232" cy="73152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3767328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BF1F2B"/>
                </a:solidFill>
                <a:latin typeface="Arial"/>
              </a:rPr>
              <a:t>ROLLBACK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4681728"/>
            <a:ext cx="69951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BF1F2B"/>
                </a:solidFill>
                <a:latin typeface="Arial"/>
              </a:rPr>
              <a:t>Output  →  consistent ticket and user records with referential integrity preserved.</a:t>
            </a:r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F5F5F"/>
                </a:solidFill>
                <a:latin typeface="Arial"/>
              </a:rPr>
              <a:t>22-09-2026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PROJECT REVIEW – II          CSIT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F5F5F"/>
                </a:solidFill>
                <a:latin typeface="Arial"/>
              </a:rPr>
              <a:t>15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Experimental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TESTING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60120" y="1536192"/>
          <a:ext cx="9921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80" b="1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80" b="1">
                          <a:solidFill>
                            <a:srgbClr val="FFFFFF"/>
                          </a:solidFill>
                          <a:latin typeface="Times New Roman"/>
                        </a:rPr>
                        <a:t>Planned / Current Setup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Hardware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Standard laptop / desktop; 8 GB+ RAM recommended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Software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MySQL Server + MySQL Workbench + IDE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Project-created sample routes, buses, stops, schedules, users and fares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Experiments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CRUD, joins, constraints, route search and transaction tests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Parameters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Increase sample record count and repeat key queries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Metrics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0">
                          <a:solidFill>
                            <a:srgbClr val="232323"/>
                          </a:solidFill>
                          <a:latin typeface="Times New Roman"/>
                        </a:rPr>
                        <a:t>Response time, correctness, integrity, scalability and usability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60120" y="5797296"/>
            <a:ext cx="9921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BF1F2B"/>
                </a:solidFill>
                <a:latin typeface="Arial"/>
              </a:rPr>
              <a:t>Final benchmark values should be inserted after the measured test run.</a:t>
            </a:r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54480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554480"/>
            <a:ext cx="54864" cy="150876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1907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SCHEMA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752344" cy="7315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Relational entities, keys and core constraints prepared.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0208" y="1554480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50208" y="1554480"/>
            <a:ext cx="54864" cy="150876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148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1907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QUERY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94560"/>
            <a:ext cx="2752344" cy="7315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Route / schedule search query pattern prepared for testing.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608" y="1554480"/>
            <a:ext cx="3374136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50608" y="1554480"/>
            <a:ext cx="54864" cy="150876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719072"/>
            <a:ext cx="2542031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94560"/>
            <a:ext cx="3063240" cy="7315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Commit / rollback flow defined for user and ticket operations.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401568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F1F2B"/>
                </a:solidFill>
                <a:latin typeface="Times New Roman"/>
              </a:rPr>
              <a:t>RESULTS TABLE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04672" y="3703320"/>
          <a:ext cx="10442447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4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evidence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Measured value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Route search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SQL query pattern implemented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TBD after benchmark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CRUD correctness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Schema + operation tests prepared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TBD after benchmark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Data integrity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PK / FK / constraint checks defined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TBD after benchmark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Response time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Measurement method defined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b="0">
                          <a:solidFill>
                            <a:srgbClr val="232323"/>
                          </a:solidFill>
                          <a:latin typeface="Times New Roman"/>
                        </a:rPr>
                        <a:t>TBD after benchmark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04672" y="5559552"/>
            <a:ext cx="10442448" cy="420624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596128"/>
            <a:ext cx="10113264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40" b="1">
                <a:solidFill>
                  <a:srgbClr val="BF1F2B"/>
                </a:solidFill>
                <a:latin typeface="Arial"/>
              </a:rPr>
              <a:t>No fabricated numbers are used; quantitative results are to be filled from the final execution log.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Performance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54480"/>
            <a:ext cx="4709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554480"/>
            <a:ext cx="54864" cy="132588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19072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QUERY RESPONSE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39826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Milliseconds needed to return a route / schedule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1554480"/>
            <a:ext cx="4709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79008" y="1554480"/>
            <a:ext cx="54864" cy="132588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0" y="1737360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19072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CRUD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439826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Percentage of tested operations producing expected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127248"/>
            <a:ext cx="4709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8" y="3127248"/>
            <a:ext cx="54864" cy="132588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331012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91840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REFERENTIAL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67328"/>
            <a:ext cx="439826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Invalid references or constraint violations detected.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8" y="3127248"/>
            <a:ext cx="4709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79008" y="3127248"/>
            <a:ext cx="54864" cy="132588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0" y="331012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91840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SCALABILITY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767328"/>
            <a:ext cx="439826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Compare response time as record count increases.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892040"/>
            <a:ext cx="9738360" cy="694944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00176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BF1F2B"/>
                </a:solidFill>
                <a:latin typeface="Times New Roman"/>
              </a:rPr>
              <a:t>REPORTING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2032" y="4965192"/>
            <a:ext cx="7699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0" b="0">
                <a:solidFill>
                  <a:srgbClr val="232323"/>
                </a:solidFill>
                <a:latin typeface="Arial"/>
              </a:rPr>
              <a:t>“Route-search query returned in XX ms for N records.”  →  replace XX and N with measured values.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Screenshots / Working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36192"/>
            <a:ext cx="3035808" cy="1664208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636776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1">
                <a:solidFill>
                  <a:srgbClr val="BF1F2B"/>
                </a:solidFill>
                <a:latin typeface="Arial"/>
              </a:rPr>
              <a:t>HOME /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75104"/>
            <a:ext cx="2523744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79576" y="2121408"/>
            <a:ext cx="2176272" cy="10972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79576" y="2295144"/>
            <a:ext cx="169164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79576" y="2468880"/>
            <a:ext cx="201168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4" y="2651760"/>
            <a:ext cx="213969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5F5F5F"/>
                </a:solidFill>
                <a:latin typeface="Arial"/>
              </a:rPr>
              <a:t>INSERT ACTUAL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9936" y="1536192"/>
            <a:ext cx="3035808" cy="1664208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87952" y="1636776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1">
                <a:solidFill>
                  <a:srgbClr val="BF1F2B"/>
                </a:solidFill>
                <a:latin typeface="Arial"/>
              </a:rPr>
              <a:t>ROUTE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975104"/>
            <a:ext cx="2523744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9704" y="2121408"/>
            <a:ext cx="2176272" cy="10972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89704" y="2295144"/>
            <a:ext cx="169164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89704" y="2468880"/>
            <a:ext cx="201168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7992" y="2651760"/>
            <a:ext cx="213969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5F5F5F"/>
                </a:solidFill>
                <a:latin typeface="Arial"/>
              </a:rPr>
              <a:t>INSERT ACTUAL SCREENSHOT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4" y="1536192"/>
            <a:ext cx="3035808" cy="1664208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0" y="1636776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1">
                <a:solidFill>
                  <a:srgbClr val="BF1F2B"/>
                </a:solidFill>
                <a:latin typeface="Arial"/>
              </a:rPr>
              <a:t>BUS / STOP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6096" y="1975104"/>
            <a:ext cx="2523744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99832" y="2121408"/>
            <a:ext cx="2176272" cy="10972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99832" y="2295144"/>
            <a:ext cx="169164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99832" y="2468880"/>
            <a:ext cx="201168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2651760"/>
            <a:ext cx="213969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5F5F5F"/>
                </a:solidFill>
                <a:latin typeface="Arial"/>
              </a:rPr>
              <a:t>INSERT ACTUAL SCREENSHOT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547872"/>
            <a:ext cx="3035808" cy="1664208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648456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1">
                <a:solidFill>
                  <a:srgbClr val="BF1F2B"/>
                </a:solidFill>
                <a:latin typeface="Arial"/>
              </a:rPr>
              <a:t>SCHEDULE / FARE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3986783"/>
            <a:ext cx="2523744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179576" y="4133087"/>
            <a:ext cx="2176272" cy="10972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79576" y="4306824"/>
            <a:ext cx="169164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179576" y="4480560"/>
            <a:ext cx="201168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97864" y="4663440"/>
            <a:ext cx="213969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5F5F5F"/>
                </a:solidFill>
                <a:latin typeface="Arial"/>
              </a:rPr>
              <a:t>INSERT ACTUAL SCREENSHOT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59936" y="3547872"/>
            <a:ext cx="3035808" cy="1664208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87952" y="3648456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1">
                <a:solidFill>
                  <a:srgbClr val="BF1F2B"/>
                </a:solidFill>
                <a:latin typeface="Arial"/>
              </a:rPr>
              <a:t>TICKET / USER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5968" y="3986783"/>
            <a:ext cx="2523744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489704" y="4133087"/>
            <a:ext cx="2176272" cy="10972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489704" y="4306824"/>
            <a:ext cx="169164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489704" y="4480560"/>
            <a:ext cx="201168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07992" y="4663440"/>
            <a:ext cx="213969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5F5F5F"/>
                </a:solidFill>
                <a:latin typeface="Arial"/>
              </a:rPr>
              <a:t>INSERT ACTUAL SCREENSHOT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70064" y="3547872"/>
            <a:ext cx="3035808" cy="1664208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0" y="3648456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" b="1">
                <a:solidFill>
                  <a:srgbClr val="BF1F2B"/>
                </a:solidFill>
                <a:latin typeface="Arial"/>
              </a:rPr>
              <a:t>FINAL APPLICATION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26096" y="3986783"/>
            <a:ext cx="2523744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799832" y="4133087"/>
            <a:ext cx="2176272" cy="10972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799832" y="4306824"/>
            <a:ext cx="169164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799832" y="4480560"/>
            <a:ext cx="2011680" cy="9144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F5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18120" y="4663440"/>
            <a:ext cx="213969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>
                <a:solidFill>
                  <a:srgbClr val="5F5F5F"/>
                </a:solidFill>
                <a:latin typeface="Arial"/>
              </a:rPr>
              <a:t>INSERT ACTUAL SCREENSHOT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" y="566928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0" b="1">
                <a:solidFill>
                  <a:srgbClr val="BF1F2B"/>
                </a:solidFill>
                <a:latin typeface="Arial"/>
              </a:rPr>
              <a:t>Review note  →  replace the six placeholders with actual prototype screenshots before the live demonstration.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Comparison with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COMPARE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81328"/>
          <a:ext cx="1073505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algn="ctr"/>
                      <a:r>
                        <a:rPr sz="1760" b="1">
                          <a:solidFill>
                            <a:srgbClr val="FFFFFF"/>
                          </a:solidFill>
                          <a:latin typeface="Times New Roman"/>
                        </a:rPr>
                        <a:t>Feature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60" b="1">
                          <a:solidFill>
                            <a:srgbClr val="FFFFFF"/>
                          </a:solidFill>
                          <a:latin typeface="Times New Roman"/>
                        </a:rPr>
                        <a:t>Existing / Manual Approach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6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DBMS-backed App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Accuracy / consistency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Depends on manually maintained or scattered records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Centralized relational records + constraints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Processing time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Manual lookup / repeated enquiry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SQL query-based retrieval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Automation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Limited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Application + database workflow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Scalability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Harder to maintain as records grow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Normalized schema supports structured expansion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Main feature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Times New Roman"/>
                        </a:rPr>
                        <a:t>Separate information sources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dirty="0">
                          <a:solidFill>
                            <a:srgbClr val="232323"/>
                          </a:solidFill>
                          <a:latin typeface="Times New Roman"/>
                        </a:rPr>
                        <a:t>Unified transport data + route search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36792"/>
            <a:ext cx="104241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F5F5F"/>
                </a:solidFill>
                <a:latin typeface="Arial"/>
              </a:rPr>
              <a:t>Comparison describes design characteristics; measured performance is reported separately after testing.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LESSONS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72768"/>
            <a:ext cx="1013155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BF1F2B"/>
                </a:solidFill>
                <a:latin typeface="Times New Roman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7792" y="1691640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20" b="0">
                <a:solidFill>
                  <a:srgbClr val="232323"/>
                </a:solidFill>
                <a:latin typeface="Times New Roman"/>
              </a:rPr>
              <a:t>Maintaining correct relationships among routes, stops, buses and schedules.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691640"/>
            <a:ext cx="36393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20" b="0">
                <a:solidFill>
                  <a:srgbClr val="232323"/>
                </a:solidFill>
                <a:latin typeface="Times New Roman"/>
              </a:rPr>
              <a:t>Use PK/FK relationships, normalization and integrity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907791"/>
            <a:ext cx="1013155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72384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BF1F2B"/>
                </a:solidFill>
                <a:latin typeface="Times New Roman"/>
              </a:rPr>
              <a:t>CHALLENGE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3026663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20" b="0">
                <a:solidFill>
                  <a:srgbClr val="232323"/>
                </a:solidFill>
                <a:latin typeface="Times New Roman"/>
              </a:rPr>
              <a:t>Writing queries that return the required transport information clearly.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026663"/>
            <a:ext cx="36393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20" b="0">
                <a:solidFill>
                  <a:srgbClr val="232323"/>
                </a:solidFill>
                <a:latin typeface="Times New Roman"/>
              </a:rPr>
              <a:t>Use joins, filters and indexes on frequently searched columns.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242816"/>
            <a:ext cx="1013155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407407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BF1F2B"/>
                </a:solidFill>
                <a:latin typeface="Times New Roman"/>
              </a:rPr>
              <a:t>CHALLENGE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4361688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20" b="0">
                <a:solidFill>
                  <a:srgbClr val="232323"/>
                </a:solidFill>
                <a:latin typeface="Times New Roman"/>
              </a:rPr>
              <a:t>Keeping multi-step user/ticket operations consistent.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361688"/>
            <a:ext cx="36393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20" b="0">
                <a:solidFill>
                  <a:srgbClr val="232323"/>
                </a:solidFill>
                <a:latin typeface="Times New Roman"/>
              </a:rPr>
              <a:t>Use transactions with COMMIT and ROLLBACK.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1371600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5F5F5F"/>
                </a:solidFill>
                <a:latin typeface="Times New Roman"/>
              </a:rPr>
              <a:t>OBSERVED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371600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5F5F5F"/>
                </a:solidFill>
                <a:latin typeface="Times New Roman"/>
              </a:rPr>
              <a:t>SOLUTION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Current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STATUS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417320"/>
          <a:ext cx="658368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398">
                <a:tc>
                  <a:txBody>
                    <a:bodyPr/>
                    <a:lstStyle/>
                    <a:p>
                      <a:pPr algn="ctr"/>
                      <a:r>
                        <a:rPr sz="1720" b="1">
                          <a:solidFill>
                            <a:srgbClr val="FFFFFF"/>
                          </a:solidFill>
                          <a:latin typeface="Times New Roman"/>
                        </a:rPr>
                        <a:t>Project Component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45720" marR="45720" marT="27432" marB="27432" anchor="ctr">
                    <a:solidFill>
                      <a:srgbClr val="B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Problem Identification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Literature Survey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System Design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Dataset Collection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Module 1 – Database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Module 2 – Queries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In Progress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Module 3 – Transactions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In Progress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In Progress</a:t>
                      </a:r>
                    </a:p>
                  </a:txBody>
                  <a:tcPr marL="45720" marR="45720" marT="27432" marB="27432" anchor="ctr"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Final Documentation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0">
                          <a:solidFill>
                            <a:srgbClr val="232323"/>
                          </a:solidFill>
                          <a:latin typeface="Times New Roman"/>
                        </a:rPr>
                        <a:t>Pending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417320"/>
            <a:ext cx="3337560" cy="1078992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36992" y="1627632"/>
            <a:ext cx="2889504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BF1F2B"/>
                </a:solidFill>
                <a:latin typeface="Arial"/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65960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0">
                <a:solidFill>
                  <a:srgbClr val="232323"/>
                </a:solidFill>
                <a:latin typeface="Times New Roman"/>
              </a:rPr>
              <a:t>Problem + survey + design + dataset + Module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679192"/>
            <a:ext cx="3337560" cy="1078992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36992" y="2889504"/>
            <a:ext cx="2889504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BF1F2B"/>
                </a:solidFill>
                <a:latin typeface="Arial"/>
              </a:rPr>
              <a:t>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3227832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0">
                <a:solidFill>
                  <a:srgbClr val="232323"/>
                </a:solidFill>
                <a:latin typeface="Times New Roman"/>
              </a:rPr>
              <a:t>Modules 2–3 +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941063"/>
            <a:ext cx="3337560" cy="1078992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4151376"/>
            <a:ext cx="2889504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BF1F2B"/>
                </a:solidFill>
                <a:latin typeface="Arial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489704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0">
                <a:solidFill>
                  <a:srgbClr val="232323"/>
                </a:solidFill>
                <a:latin typeface="Times New Roman"/>
              </a:rPr>
              <a:t>Final benchmark + documentation + demo screenshots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5202936"/>
            <a:ext cx="3337560" cy="603504"/>
          </a:xfrm>
          <a:prstGeom prst="roundRect">
            <a:avLst/>
          </a:prstGeom>
          <a:solidFill>
            <a:srgbClr val="BF1F2B"/>
          </a:solidFill>
          <a:ln w="12700">
            <a:solidFill>
              <a:srgbClr val="BF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5303520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rial"/>
              </a:rPr>
              <a:t>OVERALL PROGRESS  →  IN PROGRESS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241280" cy="4343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060" b="0">
                <a:solidFill>
                  <a:srgbClr val="232323"/>
                </a:solidFill>
                <a:latin typeface="Times New Roman"/>
              </a:rPr>
              <a:t>• Complete the mobile application and connect all core screens to the MySQL-backed data layer.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060" b="0">
                <a:solidFill>
                  <a:srgbClr val="232323"/>
                </a:solidFill>
                <a:latin typeface="Times New Roman"/>
              </a:rPr>
              <a:t>• Add realtime bus location updates using GPS and a suitable realtime service.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060" b="0">
                <a:solidFill>
                  <a:srgbClr val="232323"/>
                </a:solidFill>
                <a:latin typeface="Times New Roman"/>
              </a:rPr>
              <a:t>• Introduce notifications for route changes, delays and service alerts.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060" b="0">
                <a:solidFill>
                  <a:srgbClr val="232323"/>
                </a:solidFill>
                <a:latin typeface="Times New Roman"/>
              </a:rPr>
              <a:t>• Add digital ticketing / QR-based validation when required by the final scope.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060" b="0">
                <a:solidFill>
                  <a:srgbClr val="232323"/>
                </a:solidFill>
                <a:latin typeface="Times New Roman"/>
              </a:rPr>
              <a:t>• Improve indexing and query performance using measured workload results.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060" b="0">
                <a:solidFill>
                  <a:srgbClr val="232323"/>
                </a:solidFill>
                <a:latin typeface="Times New Roman"/>
              </a:rPr>
              <a:t>• Test with larger and more realistic datasets.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060" b="0">
                <a:solidFill>
                  <a:srgbClr val="232323"/>
                </a:solidFill>
                <a:latin typeface="Times New Roman"/>
              </a:rPr>
              <a:t>• Prepare the final documentation and demonstration package.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72768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54864" cy="150876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75564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3736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752344" cy="7315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Public-transport information can be fragmented and difficult to query consistently.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0208" y="1572768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50208" y="1572768"/>
            <a:ext cx="54864" cy="150876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14800" y="175564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3736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12848"/>
            <a:ext cx="2752344" cy="7315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A mobile application backed by a normalized MySQL database centralizes users, routes, stops, buses, schedules and fares.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608" y="1572768"/>
            <a:ext cx="3374136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50608" y="1572768"/>
            <a:ext cx="54864" cy="1508760"/>
          </a:xfrm>
          <a:prstGeom prst="rect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0" y="1755648"/>
            <a:ext cx="384048" cy="384048"/>
          </a:xfrm>
          <a:prstGeom prst="ellipse">
            <a:avLst/>
          </a:prstGeom>
          <a:solidFill>
            <a:srgbClr val="BF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737360"/>
            <a:ext cx="2542031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BF1F2B"/>
                </a:solidFill>
                <a:latin typeface="Times New Roman"/>
              </a:rPr>
              <a:t>DBMS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212848"/>
            <a:ext cx="3063240" cy="7315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Times New Roman"/>
              </a:rPr>
              <a:t>ER modeling, normalization, constraints, joins, indexes and transactions provide the technical foundation.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493008"/>
            <a:ext cx="9774936" cy="1325880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675887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BF1F2B"/>
                </a:solidFill>
                <a:latin typeface="Times New Roman"/>
              </a:rPr>
              <a:t>EXPECTED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621024"/>
            <a:ext cx="751636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Times New Roman"/>
              </a:rPr>
              <a:t>The project demonstrates the feasibility of addressing public-transport information needs through a structured relational data layer and provides a foundation for further application integration, realtime features and measured performance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184648"/>
            <a:ext cx="9774936" cy="621792"/>
          </a:xfrm>
          <a:prstGeom prst="roundRect">
            <a:avLst/>
          </a:prstGeom>
          <a:solidFill>
            <a:srgbClr val="BF1F2B"/>
          </a:solidFill>
          <a:ln w="12700">
            <a:solidFill>
              <a:srgbClr val="BF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934516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 structured database becomes the backbone for reliable transport information.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232323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1060704"/>
            <a:ext cx="1691640" cy="310896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BF1F2B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10195560" cy="4526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70" b="0">
                <a:solidFill>
                  <a:srgbClr val="232323"/>
                </a:solidFill>
                <a:latin typeface="Times New Roman"/>
              </a:rPr>
              <a:t>• Chowdhury, S. &amp; Giacaman, N. (2015). “En-Route Planning of Multi-Destination Public-Transport Trips Using Smartphones.” Journal of Public Transportation. DOI: 10.5038/2375-0901.18.4.3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70" b="0">
                <a:solidFill>
                  <a:srgbClr val="232323"/>
                </a:solidFill>
                <a:latin typeface="Times New Roman"/>
              </a:rPr>
              <a:t>• Molina, A. et al. (2017). “Evaluation of an integrated mobile payment, route planner and social network solution for public transport.” Transportation Research Procedia. DOI: 10.1016/j.trpro.2017.05.107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70" b="0">
                <a:solidFill>
                  <a:srgbClr val="232323"/>
                </a:solidFill>
                <a:latin typeface="Times New Roman"/>
              </a:rPr>
              <a:t>• Verma, R. &amp; Chakraborty, S. (2020/2021). “Smartphones for public transport planning and recommendation in developing countries—A review.” WIREs Data Mining and Knowledge Discovery. DOI: 10.1002/widm.1397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70" b="0">
                <a:solidFill>
                  <a:srgbClr val="232323"/>
                </a:solidFill>
                <a:latin typeface="Times New Roman"/>
              </a:rPr>
              <a:t>• Patil, V. et al. (2026). “Real Time Public Transportation Tracking System.” Journal of Scientific Research and Technology, 4(6), 323–337.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70" b="0">
                <a:solidFill>
                  <a:srgbClr val="232323"/>
                </a:solidFill>
                <a:latin typeface="Times New Roman"/>
              </a:rPr>
              <a:t>• Zannat, K. E. &amp; Choudhury, C. F. (2019). “Emerging Big Data Sources for Public Transport Planning: A Systematic Review.” Journal of the Indian Institute of Science.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70" b="0">
                <a:solidFill>
                  <a:srgbClr val="232323"/>
                </a:solidFill>
                <a:latin typeface="Times New Roman"/>
              </a:rPr>
              <a:t>• MySQL 8.0 Reference Manual — MySQL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669280"/>
            <a:ext cx="10195560" cy="384048"/>
          </a:xfrm>
          <a:prstGeom prst="roundRect">
            <a:avLst/>
          </a:prstGeom>
          <a:solidFill>
            <a:srgbClr val="F5F5F6"/>
          </a:solidFill>
          <a:ln w="12700">
            <a:solidFill>
              <a:srgbClr val="D6D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705856"/>
            <a:ext cx="98938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F5F5F"/>
                </a:solidFill>
                <a:latin typeface="Arial"/>
              </a:rPr>
              <a:t>References are included as the project’s literature and technology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3689</TotalTime>
  <Words>2290</Words>
  <Application>Microsoft Office PowerPoint</Application>
  <PresentationFormat>Widescreen</PresentationFormat>
  <Paragraphs>456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Times New Roman</vt:lpstr>
      <vt:lpstr>Office Theme</vt:lpstr>
      <vt:lpstr>Custom Design</vt:lpstr>
      <vt:lpstr>The Smart Public Transport Mobile App</vt:lpstr>
      <vt:lpstr>Abstract</vt:lpstr>
      <vt:lpstr>Problem Statement</vt:lpstr>
      <vt:lpstr>Motivation</vt:lpstr>
      <vt:lpstr>Objectives</vt:lpstr>
      <vt:lpstr>Literature Survey</vt:lpstr>
      <vt:lpstr>Research Gap</vt:lpstr>
      <vt:lpstr>Proposed Methodology</vt:lpstr>
      <vt:lpstr>System Architecture</vt:lpstr>
      <vt:lpstr>Technologies Used</vt:lpstr>
      <vt:lpstr>Dataset / Input Details</vt:lpstr>
      <vt:lpstr>Implementation – Module 1</vt:lpstr>
      <vt:lpstr>Implementation – Module 2</vt:lpstr>
      <vt:lpstr>Implementation – Module 3</vt:lpstr>
      <vt:lpstr>PowerPoint Presentation</vt:lpstr>
      <vt:lpstr>Results</vt:lpstr>
      <vt:lpstr>Performance Evaluation</vt:lpstr>
      <vt:lpstr>Screenshots / Working Demo</vt:lpstr>
      <vt:lpstr>Comparison with Existing System</vt:lpstr>
      <vt:lpstr>Challenges &amp; Solutions</vt:lpstr>
      <vt:lpstr>Current Progress</vt:lpstr>
      <vt:lpstr>Future Work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Smart Public Transport Mobile App — Project Review II</dc:title>
  <dc:subject>DBMS / CSIT Project Review II</dc:subject>
  <dc:creator>Sai Snehith, Yagna Sai Reddy, Harshith Reddy</dc:creator>
  <cp:keywords>DBMS, MySQL, public transport, mobile application, Project Review II</cp:keywords>
  <cp:lastModifiedBy>harshith reddy</cp:lastModifiedBy>
  <cp:revision>52</cp:revision>
  <dcterms:created xsi:type="dcterms:W3CDTF">2022-05-20T10:20:31Z</dcterms:created>
  <dcterms:modified xsi:type="dcterms:W3CDTF">2026-09-22T03:43:53Z</dcterms:modified>
</cp:coreProperties>
</file>